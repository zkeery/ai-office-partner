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solidFill>
              <a:srgbClr val="167D8D"/>
            </a:solidFill>
          </c:spPr>
          <c:cat>
            <c:strRef>
              <c:f>Sheet1!$A$2:$A$3</c:f>
              <c:strCache>
                <c:ptCount val="2"/>
                <c:pt idx="0">
                  <c:v>华南</c:v>
                </c:pt>
                <c:pt idx="1">
                  <c:v>华东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6600.0</c:v>
                </c:pt>
                <c:pt idx="1">
                  <c:v>6000.0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3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ln>
              <a:solidFill>
                <a:srgbClr val="167D8D"/>
              </a:solidFill>
            </a:ln>
          </c:spPr>
          <c:cat>
            <c:strRef>
              <c:f>Sheet1!$A$2:$A$4</c:f>
              <c:strCache>
                <c:ptCount val="3"/>
                <c:pt idx="0">
                  <c:v>2025-01</c:v>
                </c:pt>
                <c:pt idx="1">
                  <c:v>2026-01</c:v>
                </c:pt>
                <c:pt idx="2">
                  <c:v>2026-02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2100.0</c:v>
                </c:pt>
                <c:pt idx="1">
                  <c:v>4200.0</c:v>
                </c:pt>
                <c:pt idx="2">
                  <c:v>6300.0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solidFill>
              <a:srgbClr val="167D8D"/>
            </a:solidFill>
          </c:spPr>
          <c:cat>
            <c:strRef>
              <c:f>Sheet1!$A$2:$A$2</c:f>
              <c:strCache>
                <c:ptCount val="1"/>
                <c:pt idx="0">
                  <c:v>华北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750.0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3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ln>
              <a:solidFill>
                <a:srgbClr val="167D8D"/>
              </a:solidFill>
            </a:ln>
          </c:spPr>
          <c:cat>
            <c:strRef>
              <c:f>Sheet1!$A$2:$A$3</c:f>
              <c:strCache>
                <c:ptCount val="2"/>
                <c:pt idx="0">
                  <c:v>2026-01</c:v>
                </c:pt>
                <c:pt idx="1">
                  <c:v>2026-02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300.0</c:v>
                </c:pt>
                <c:pt idx="1">
                  <c:v>450.0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400">
                <a:solidFill>
                  <a:srgbClr val="173B45"/>
                </a:solidFill>
              </a:defRPr>
            </a:pPr>
            <a:r>
              <a:t>销售额全量分析报告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AI办公搭子 · 自动生成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73B45"/>
                </a:solidFill>
                <a:latin typeface="Aptos"/>
              </a:defRPr>
            </a:pPr>
            <a:r>
              <a:t>一、背景与数据范围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52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73B45"/>
                </a:solidFill>
                <a:latin typeface="Aptos"/>
              </a:defRPr>
            </a:pPr>
            <a:r>
              <a:t>本报告基于文件 合成销售数据.xlsx，共 2 个工作表、62 行数据：</a:t>
            </a:r>
          </a:p>
          <a:p>
            <a:pPr>
              <a:spcAft>
                <a:spcPts val="1200"/>
              </a:spcAft>
              <a:defRPr sz="1800">
                <a:solidFill>
                  <a:srgbClr val="173B45"/>
                </a:solidFill>
                <a:latin typeface="Aptos"/>
              </a:defRPr>
            </a:pPr>
            <a:r>
              <a:t>工作表 · 数据行数 · 说明</a:t>
            </a:r>
          </a:p>
          <a:p>
            <a:pPr>
              <a:spcAft>
                <a:spcPts val="1200"/>
              </a:spcAft>
              <a:defRPr sz="1800">
                <a:solidFill>
                  <a:srgbClr val="173B45"/>
                </a:solidFill>
                <a:latin typeface="Aptos"/>
              </a:defRPr>
            </a:pPr>
            <a:r>
              <a:t>销售明细 · 60 · 含区域、产品、月份、销售额、订单量、转化率等维度</a:t>
            </a:r>
          </a:p>
          <a:p>
            <a:pPr>
              <a:spcAft>
                <a:spcPts val="1200"/>
              </a:spcAft>
              <a:defRPr sz="1800">
                <a:solidFill>
                  <a:srgbClr val="173B45"/>
                </a:solidFill>
                <a:latin typeface="Aptos"/>
              </a:defRPr>
            </a:pPr>
            <a:r>
              <a:t>线下补充 · 2 · 仅含区域与销售额，维度较少</a:t>
            </a:r>
          </a:p>
          <a:p>
            <a:pPr>
              <a:spcAft>
                <a:spcPts val="1200"/>
              </a:spcAft>
              <a:defRPr sz="1800">
                <a:solidFill>
                  <a:srgbClr val="173B45"/>
                </a:solidFill>
                <a:latin typeface="Aptos"/>
              </a:defRPr>
            </a:pPr>
            <a:r>
              <a:t>统计口径：销售额、订单量按求和汇总；转化率为未加权均值（各记录等权平均），不代表按订单量或销售额加权的整体转化率。环比、同比在缺少基期或基期为 0 时记为「—（缺少可用基期）」。全部数据无缺失、无非法值、无离群值，程序标记异常总数为 0。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190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37A80"/>
                </a:solidFill>
              </a:defRPr>
            </a:pPr>
            <a:r>
              <a:t>AI办公搭子  /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73B45"/>
                </a:solidFill>
                <a:latin typeface="Aptos"/>
              </a:defRPr>
            </a:pPr>
            <a:r>
              <a:t>二、核心发现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52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73B45"/>
                </a:solidFill>
                <a:latin typeface="Aptos"/>
              </a:defRPr>
            </a:pPr>
            <a:r>
              <a:t>1. 区域销售额（销售明细表）</a:t>
            </a:r>
          </a:p>
          <a:p>
            <a:pPr>
              <a:spcAft>
                <a:spcPts val="1200"/>
              </a:spcAft>
              <a:defRPr sz="1800">
                <a:solidFill>
                  <a:srgbClr val="173B45"/>
                </a:solidFill>
                <a:latin typeface="Aptos"/>
              </a:defRPr>
            </a:pPr>
            <a:r>
              <a:t>区域 · 销售额 · 记录数</a:t>
            </a:r>
          </a:p>
          <a:p>
            <a:pPr>
              <a:spcAft>
                <a:spcPts val="1200"/>
              </a:spcAft>
              <a:defRPr sz="1800">
                <a:solidFill>
                  <a:srgbClr val="173B45"/>
                </a:solidFill>
                <a:latin typeface="Aptos"/>
              </a:defRPr>
            </a:pPr>
            <a:r>
              <a:t>华南 · 6600.0 · 30</a:t>
            </a:r>
          </a:p>
          <a:p>
            <a:pPr>
              <a:spcAft>
                <a:spcPts val="1200"/>
              </a:spcAft>
              <a:defRPr sz="1800">
                <a:solidFill>
                  <a:srgbClr val="173B45"/>
                </a:solidFill>
                <a:latin typeface="Aptos"/>
              </a:defRPr>
            </a:pPr>
            <a:r>
              <a:t>华东 · 6000.0 · 30</a:t>
            </a:r>
          </a:p>
          <a:p>
            <a:pPr>
              <a:spcAft>
                <a:spcPts val="1200"/>
              </a:spcAft>
              <a:defRPr sz="1800">
                <a:solidFill>
                  <a:srgbClr val="173B45"/>
                </a:solidFill>
                <a:latin typeface="Aptos"/>
              </a:defRPr>
            </a:pPr>
            <a:r>
              <a:t>两区域记录数相同，华南略高于华东。线下补充表另有华北 750.0（2 条记录），但该表维度较少，与销售明细表是否属同一业务口径待核实。</a:t>
            </a:r>
          </a:p>
          <a:p>
            <a:pPr>
              <a:spcAft>
                <a:spcPts val="1200"/>
              </a:spcAft>
              <a:defRPr sz="1800">
                <a:solidFill>
                  <a:srgbClr val="173B45"/>
                </a:solidFill>
                <a:latin typeface="Aptos"/>
              </a:defRPr>
            </a:pPr>
            <a:r>
              <a:t>2. 产品销售额（销售明细表）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190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37A80"/>
                </a:solidFill>
              </a:defRPr>
            </a:pPr>
            <a:r>
              <a:t>AI办公搭子  /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73B45"/>
                </a:solidFill>
                <a:latin typeface="Aptos"/>
              </a:defRPr>
            </a:pPr>
            <a:r>
              <a:t>二、核心发现（续 2）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52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73B45"/>
                </a:solidFill>
                <a:latin typeface="Aptos"/>
              </a:defRPr>
            </a:pPr>
            <a:r>
              <a:t>产品 · 销售额 · 记录数</a:t>
            </a:r>
          </a:p>
          <a:p>
            <a:pPr>
              <a:spcAft>
                <a:spcPts val="1200"/>
              </a:spcAft>
              <a:defRPr sz="1800">
                <a:solidFill>
                  <a:srgbClr val="173B45"/>
                </a:solidFill>
                <a:latin typeface="Aptos"/>
              </a:defRPr>
            </a:pPr>
            <a:r>
              <a:t>专业版 · 9300.0 · 30</a:t>
            </a:r>
          </a:p>
          <a:p>
            <a:pPr>
              <a:spcAft>
                <a:spcPts val="1200"/>
              </a:spcAft>
              <a:defRPr sz="1800">
                <a:solidFill>
                  <a:srgbClr val="173B45"/>
                </a:solidFill>
                <a:latin typeface="Aptos"/>
              </a:defRPr>
            </a:pPr>
            <a:r>
              <a:t>基础版 · 3300.0 · 30</a:t>
            </a:r>
          </a:p>
          <a:p>
            <a:pPr>
              <a:spcAft>
                <a:spcPts val="1200"/>
              </a:spcAft>
              <a:defRPr sz="1800">
                <a:solidFill>
                  <a:srgbClr val="173B45"/>
                </a:solidFill>
                <a:latin typeface="Aptos"/>
              </a:defRPr>
            </a:pPr>
            <a:r>
              <a:t>专业版销售额约为基础版的 2.8 倍，两者记录数相同。</a:t>
            </a:r>
          </a:p>
          <a:p>
            <a:pPr>
              <a:spcAft>
                <a:spcPts val="1200"/>
              </a:spcAft>
              <a:defRPr sz="1800">
                <a:solidFill>
                  <a:srgbClr val="173B45"/>
                </a:solidFill>
                <a:latin typeface="Aptos"/>
              </a:defRPr>
            </a:pPr>
            <a:r>
              <a:t>3. 月度销售额变化（销售明细表）</a:t>
            </a:r>
          </a:p>
          <a:p>
            <a:pPr>
              <a:spcAft>
                <a:spcPts val="1200"/>
              </a:spcAft>
              <a:defRPr sz="1800">
                <a:solidFill>
                  <a:srgbClr val="173B45"/>
                </a:solidFill>
                <a:latin typeface="Aptos"/>
              </a:defRPr>
            </a:pPr>
            <a:r>
              <a:t>期间 · 销售额 · 环比 · 同比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190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37A80"/>
                </a:solidFill>
              </a:defRPr>
            </a:pPr>
            <a:r>
              <a:t>AI办公搭子  /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73B45"/>
                </a:solidFill>
                <a:latin typeface="Aptos"/>
              </a:defRPr>
            </a:pPr>
            <a:r>
              <a:t>二、核心发现（续 3）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52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73B45"/>
                </a:solidFill>
                <a:latin typeface="Aptos"/>
              </a:defRPr>
            </a:pPr>
            <a:r>
              <a:t>2025-01 · 2100.0 · —（缺少可用基期） · —（缺少可用基期）</a:t>
            </a:r>
          </a:p>
          <a:p>
            <a:pPr>
              <a:spcAft>
                <a:spcPts val="1200"/>
              </a:spcAft>
              <a:defRPr sz="1800">
                <a:solidFill>
                  <a:srgbClr val="173B45"/>
                </a:solidFill>
                <a:latin typeface="Aptos"/>
              </a:defRPr>
            </a:pPr>
            <a:r>
              <a:t>2026-01 · 4200.0 · —（缺少可用基期） · +100.0%</a:t>
            </a:r>
          </a:p>
          <a:p>
            <a:pPr>
              <a:spcAft>
                <a:spcPts val="1200"/>
              </a:spcAft>
              <a:defRPr sz="1800">
                <a:solidFill>
                  <a:srgbClr val="173B45"/>
                </a:solidFill>
                <a:latin typeface="Aptos"/>
              </a:defRPr>
            </a:pPr>
            <a:r>
              <a:t>2026-02 · 6300.0 · +50.0% · —（缺少可用基期）</a:t>
            </a:r>
          </a:p>
          <a:p>
            <a:pPr>
              <a:spcAft>
                <a:spcPts val="1200"/>
              </a:spcAft>
              <a:defRPr sz="1800">
                <a:solidFill>
                  <a:srgbClr val="173B45"/>
                </a:solidFill>
                <a:latin typeface="Aptos"/>
              </a:defRPr>
            </a:pPr>
            <a:r>
              <a:t>2026-01 同比增长 100.0%（4200 对 2100）。</a:t>
            </a:r>
          </a:p>
          <a:p>
            <a:pPr>
              <a:spcAft>
                <a:spcPts val="1200"/>
              </a:spcAft>
              <a:defRPr sz="1800">
                <a:solidFill>
                  <a:srgbClr val="173B45"/>
                </a:solidFill>
                <a:latin typeface="Aptos"/>
              </a:defRPr>
            </a:pPr>
            <a:r>
              <a:t>2026-02 环比增长 50.0%（6300 对 4200）。</a:t>
            </a:r>
          </a:p>
          <a:p>
            <a:pPr>
              <a:spcAft>
                <a:spcPts val="1200"/>
              </a:spcAft>
              <a:defRPr sz="1800">
                <a:solidFill>
                  <a:srgbClr val="173B45"/>
                </a:solidFill>
                <a:latin typeface="Aptos"/>
              </a:defRPr>
            </a:pPr>
            <a:r>
              <a:t>2026-02 同比缺失，因无 2025-02 基期数据；2025-01 与 2026-01 的环比缺失，因无更早期间数据。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190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37A80"/>
                </a:solidFill>
              </a:defRPr>
            </a:pPr>
            <a:r>
              <a:t>AI办公搭子  /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73B45"/>
                </a:solidFill>
                <a:latin typeface="Aptos"/>
              </a:defRPr>
            </a:pPr>
            <a:r>
              <a:t>二、核心发现（续 4）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52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73B45"/>
                </a:solidFill>
                <a:latin typeface="Aptos"/>
              </a:defRPr>
            </a:pPr>
            <a:r>
              <a:t>4. 订单量与转化率（销售明细表）</a:t>
            </a:r>
          </a:p>
          <a:p>
            <a:pPr>
              <a:spcAft>
                <a:spcPts val="1200"/>
              </a:spcAft>
              <a:defRPr sz="1800">
                <a:solidFill>
                  <a:srgbClr val="173B45"/>
                </a:solidFill>
                <a:latin typeface="Aptos"/>
              </a:defRPr>
            </a:pPr>
            <a:r>
              <a:t>期间 · 订单量 · 环比 · 同比 · 转化率（未加权均值） · 环比 · 同比</a:t>
            </a:r>
          </a:p>
          <a:p>
            <a:pPr>
              <a:spcAft>
                <a:spcPts val="1200"/>
              </a:spcAft>
              <a:defRPr sz="1800">
                <a:solidFill>
                  <a:srgbClr val="173B45"/>
                </a:solidFill>
                <a:latin typeface="Aptos"/>
              </a:defRPr>
            </a:pPr>
            <a:r>
              <a:t>2025-01 · 210.0 · —（缺少可用基期） · —（缺少可用基期） · 20.5% · —（缺少可用基期） · —（缺少可用基期）</a:t>
            </a:r>
          </a:p>
          <a:p>
            <a:pPr>
              <a:spcAft>
                <a:spcPts val="1200"/>
              </a:spcAft>
              <a:defRPr sz="1800">
                <a:solidFill>
                  <a:srgbClr val="173B45"/>
                </a:solidFill>
                <a:latin typeface="Aptos"/>
              </a:defRPr>
            </a:pPr>
            <a:r>
              <a:t>2026-01 · 210.0 · —（缺少可用基期） · 0.0% · 20.5% · —（缺少可用基期） · 0.0%</a:t>
            </a:r>
          </a:p>
          <a:p>
            <a:pPr>
              <a:spcAft>
                <a:spcPts val="1200"/>
              </a:spcAft>
              <a:defRPr sz="1800">
                <a:solidFill>
                  <a:srgbClr val="173B45"/>
                </a:solidFill>
                <a:latin typeface="Aptos"/>
              </a:defRPr>
            </a:pPr>
            <a:r>
              <a:t>2026-02 · 210.0 · 0.0% · —（缺少可用基期） · 20.5% · 0.0% · —（缺少可用基期）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190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37A80"/>
                </a:solidFill>
              </a:defRPr>
            </a:pPr>
            <a:r>
              <a:t>AI办公搭子  /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73B45"/>
                </a:solidFill>
                <a:latin typeface="Aptos"/>
              </a:defRPr>
            </a:pPr>
            <a:r>
              <a:t>二、核心发现（续 5）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52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73B45"/>
                </a:solidFill>
                <a:latin typeface="Aptos"/>
              </a:defRPr>
            </a:pPr>
            <a:r>
              <a:t>订单量与转化率在各期间均无变化，与销售额的增长形成对比。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190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37A80"/>
                </a:solidFill>
              </a:defRPr>
            </a:pPr>
            <a:r>
              <a:t>AI办公搭子  /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73B45"/>
                </a:solidFill>
                <a:latin typeface="Aptos"/>
              </a:defRPr>
            </a:pPr>
            <a:r>
              <a:t>三、图表解读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52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73B45"/>
                </a:solidFill>
                <a:latin typeface="Aptos"/>
              </a:defRPr>
            </a:pPr>
            <a:r>
              <a:t>销售明细 · 销售额 · 按区域汇总：华南 6600.0、华东 6000.0，两者接近，合计 12600.0，与销售明细表销售额总和一致（来源：合成销售数据.xlsx，销售明细）。</a:t>
            </a:r>
          </a:p>
          <a:p>
            <a:pPr>
              <a:spcAft>
                <a:spcPts val="1200"/>
              </a:spcAft>
              <a:defRPr sz="1800">
                <a:solidFill>
                  <a:srgbClr val="173B45"/>
                </a:solidFill>
                <a:latin typeface="Aptos"/>
              </a:defRPr>
            </a:pPr>
            <a:r>
              <a:t>销售明细 · 销售额 · 月度趋势：2025-01 为 2100.0，2026-01 为 4200.0（同比 +100.0%），2026-02 为 6300.0（环比 +50.0%）；2026-02 同比为 —（缺少可用基期）（来源：合成销售数据.xlsx，销售明细）。</a:t>
            </a:r>
          </a:p>
          <a:p>
            <a:pPr>
              <a:spcAft>
                <a:spcPts val="1200"/>
              </a:spcAft>
              <a:defRPr sz="1800">
                <a:solidFill>
                  <a:srgbClr val="173B45"/>
                </a:solidFill>
                <a:latin typeface="Aptos"/>
              </a:defRPr>
            </a:pPr>
            <a:r>
              <a:t>线下补充 · 销售额 · 按区域汇总：仅华北 750.0，为另一工作表口径，未并入销售明细的区域汇总（来源：合成销售数据.xlsx，线下补充）。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190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37A80"/>
                </a:solidFill>
              </a:defRPr>
            </a:pPr>
            <a:r>
              <a:t>AI办公搭子  /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73B45"/>
                </a:solidFill>
                <a:latin typeface="Aptos"/>
              </a:defRPr>
            </a:pPr>
            <a:r>
              <a:t>三、图表解读（续 2）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52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73B45"/>
                </a:solidFill>
                <a:latin typeface="Aptos"/>
              </a:defRPr>
            </a:pPr>
            <a:r>
              <a:t>线下补充 · 销售额 · 月度趋势：2026-01 为 300.0，2026-02 为 450.0（环比 +50.0%）；2026-01 环比与两期同比均为 —（缺少可用基期）（来源：合成销售数据.xlsx，线下补充）。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190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37A80"/>
                </a:solidFill>
              </a:defRPr>
            </a:pPr>
            <a:r>
              <a:t>AI办公搭子  /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73B45"/>
                </a:solidFill>
                <a:latin typeface="Aptos"/>
              </a:defRPr>
            </a:pPr>
            <a:r>
              <a:t>四、异常与待核实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52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73B45"/>
                </a:solidFill>
                <a:latin typeface="Aptos"/>
              </a:defRPr>
            </a:pPr>
            <a:r>
              <a:t>无程序标记异常：异常总数 0，离群值 0，缺失与非数字均为 0。</a:t>
            </a:r>
          </a:p>
          <a:p>
            <a:pPr>
              <a:spcAft>
                <a:spcPts val="1200"/>
              </a:spcAft>
              <a:defRPr sz="1800">
                <a:solidFill>
                  <a:srgbClr val="173B45"/>
                </a:solidFill>
                <a:latin typeface="Aptos"/>
              </a:defRPr>
            </a:pPr>
            <a:r>
              <a:t>同比/环比缺失属正常：2025-01 无前期与上年同期；2026-02 无 2025-02 基期，非数据错误。</a:t>
            </a:r>
          </a:p>
          <a:p>
            <a:pPr>
              <a:spcAft>
                <a:spcPts val="1200"/>
              </a:spcAft>
              <a:defRPr sz="1800">
                <a:solidFill>
                  <a:srgbClr val="173B45"/>
                </a:solidFill>
                <a:latin typeface="Aptos"/>
              </a:defRPr>
            </a:pPr>
            <a:r>
              <a:t>订单量与转化率完全不变：三个期间订单量恒为 210.0、转化率未加权均值恒为 20.5%，而销售额翻倍增长。此现象待核实——可能为合成数据设定，也可能与单价变化有关，但当前结果未提供单价指标，不作因果推断。</a:t>
            </a:r>
          </a:p>
          <a:p>
            <a:pPr>
              <a:spcAft>
                <a:spcPts val="1200"/>
              </a:spcAft>
              <a:defRPr sz="1800">
                <a:solidFill>
                  <a:srgbClr val="173B45"/>
                </a:solidFill>
                <a:latin typeface="Aptos"/>
              </a:defRPr>
            </a:pPr>
            <a:r>
              <a:t>两工作表口径是否可合并待核实：销售明细（60 行）与线下补充（2 行）列数不同，区域不重叠（华南/华东 对 华北），是否属同一业务口径未找到公开来源。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190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37A80"/>
                </a:solidFill>
              </a:defRPr>
            </a:pPr>
            <a:r>
              <a:t>AI办公搭子  /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73B45"/>
                </a:solidFill>
                <a:latin typeface="Aptos"/>
              </a:defRPr>
            </a:pPr>
            <a:r>
              <a:t>四、异常与待核实（续 2）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52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73B45"/>
                </a:solidFill>
                <a:latin typeface="Aptos"/>
              </a:defRPr>
            </a:pPr>
            <a:r>
              <a:t>转化率均值口径提示：20.5% 为未加权均值，若各记录订单量差异大，加权后结果可能不同，本报告不将其表述为整体转化率。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190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37A80"/>
                </a:solidFill>
              </a:defRPr>
            </a:pPr>
            <a:r>
              <a:t>AI办公搭子  /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73B45"/>
                </a:solidFill>
                <a:latin typeface="Aptos"/>
              </a:defRPr>
            </a:pPr>
            <a:r>
              <a:t>五、建议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52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73B45"/>
                </a:solidFill>
                <a:latin typeface="Aptos"/>
              </a:defRPr>
            </a:pPr>
            <a:r>
              <a:t>补齐基期数据：补充 2025-02 等缺失期间，以计算 2026-02 同比，完善月度对比。</a:t>
            </a:r>
          </a:p>
          <a:p>
            <a:pPr>
              <a:spcAft>
                <a:spcPts val="1200"/>
              </a:spcAft>
              <a:defRPr sz="1800">
                <a:solidFill>
                  <a:srgbClr val="173B45"/>
                </a:solidFill>
                <a:latin typeface="Aptos"/>
              </a:defRPr>
            </a:pPr>
            <a:r>
              <a:t>核实订单量与转化率不变的原因：确认是否为数据生成设定；如为真实业务，需排查订单量与销售额背离的驱动因素。</a:t>
            </a:r>
          </a:p>
          <a:p>
            <a:pPr>
              <a:spcAft>
                <a:spcPts val="1200"/>
              </a:spcAft>
              <a:defRPr sz="1800">
                <a:solidFill>
                  <a:srgbClr val="173B45"/>
                </a:solidFill>
                <a:latin typeface="Aptos"/>
              </a:defRPr>
            </a:pPr>
            <a:r>
              <a:t>明确两表合并口径：确认线下补充表是否纳入整体区域汇总，避免区域口径混淆。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190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37A80"/>
                </a:solidFill>
              </a:defRPr>
            </a:pPr>
            <a:r>
              <a:t>AI办公搭子  /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73B45"/>
                </a:solidFill>
                <a:latin typeface="Aptos"/>
              </a:defRPr>
            </a:pPr>
            <a:r>
              <a:t>六、参考来源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52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73B45"/>
                </a:solidFill>
                <a:latin typeface="Aptos"/>
              </a:defRPr>
            </a:pPr>
            <a:r>
              <a:t>合成销售数据.xlsx — 工作表「销售明细」（60 行）</a:t>
            </a:r>
          </a:p>
          <a:p>
            <a:pPr>
              <a:spcAft>
                <a:spcPts val="1200"/>
              </a:spcAft>
              <a:defRPr sz="1800">
                <a:solidFill>
                  <a:srgbClr val="173B45"/>
                </a:solidFill>
                <a:latin typeface="Aptos"/>
              </a:defRPr>
            </a:pPr>
            <a:r>
              <a:t>合成销售数据.xlsx — 工作表「线下补充」（2 行）</a:t>
            </a:r>
          </a:p>
          <a:p>
            <a:pPr>
              <a:spcAft>
                <a:spcPts val="1200"/>
              </a:spcAft>
              <a:defRPr sz="1800">
                <a:solidFill>
                  <a:srgbClr val="173B45"/>
                </a:solidFill>
                <a:latin typeface="Aptos"/>
              </a:defRPr>
            </a:pPr>
            <a:r>
              <a:t>以上数字均来自程序对全部已接收数据的计算结果</a:t>
            </a:r>
          </a:p>
          <a:p>
            <a:pPr>
              <a:spcAft>
                <a:spcPts val="1200"/>
              </a:spcAft>
              <a:defRPr sz="1800">
                <a:solidFill>
                  <a:srgbClr val="173B45"/>
                </a:solidFill>
                <a:latin typeface="Aptos"/>
              </a:defRPr>
            </a:pPr>
            <a:r>
              <a:t>未在材料中出现的口径与结论：未找到公开来源 / 待核实</a:t>
            </a:r>
          </a:p>
          <a:p>
            <a:pPr>
              <a:spcAft>
                <a:spcPts val="1200"/>
              </a:spcAft>
              <a:defRPr sz="1800">
                <a:solidFill>
                  <a:srgbClr val="173B45"/>
                </a:solidFill>
                <a:latin typeface="Aptos"/>
              </a:defRPr>
            </a:pPr>
            <a:r>
              <a:t>完整明细、公式与图表见 Excel 导出文件，本报告仅压缩展示已算出的结果。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190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37A80"/>
                </a:solidFill>
              </a:defRPr>
            </a:pPr>
            <a:r>
              <a:t>AI办公搭子  /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73B45"/>
                </a:solidFill>
                <a:latin typeface="Aptos"/>
              </a:defRPr>
            </a:pPr>
            <a:r>
              <a:t>数据范围与计算口径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52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73B45"/>
                </a:solidFill>
                <a:latin typeface="Aptos"/>
              </a:defRPr>
            </a:pPr>
            <a:r>
              <a:t>完整读取 1 个文件、2 个工作表，共 62 行数据。</a:t>
            </a:r>
          </a:p>
          <a:p>
            <a:pPr>
              <a:spcAft>
                <a:spcPts val="1200"/>
              </a:spcAft>
              <a:defRPr sz="1800">
                <a:solidFill>
                  <a:srgbClr val="173B45"/>
                </a:solidFill>
                <a:latin typeface="Aptos"/>
              </a:defRPr>
            </a:pPr>
            <a:r>
              <a:t>数值由程序计算。空值与非数字排除，离群值仍计入统计；异常明细和全部数据保存在 Excel。</a:t>
            </a:r>
          </a:p>
          <a:p>
            <a:pPr>
              <a:spcAft>
                <a:spcPts val="1200"/>
              </a:spcAft>
              <a:defRPr sz="1800">
                <a:solidFill>
                  <a:srgbClr val="173B45"/>
                </a:solidFill>
                <a:latin typeface="Aptos"/>
              </a:defRPr>
            </a:pPr>
            <a:r>
              <a:t>环比使用上一个自然月，同比使用上一年同月。基期缺失或为 0 时不计算增长率。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190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37A80"/>
                </a:solidFill>
              </a:defRPr>
            </a:pPr>
            <a:r>
              <a:t>AI办公搭子  /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73B45"/>
                </a:solidFill>
                <a:latin typeface="Aptos"/>
              </a:defRPr>
            </a:pPr>
            <a:r>
              <a:t>销售额 · 按区域汇总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645920"/>
          <a:ext cx="1060704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85800" y="64190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37A80"/>
                </a:solidFill>
              </a:defRPr>
            </a:pPr>
            <a:r>
              <a:t>来源：合成销售数据.xlsx / 销售明细 · 60 行   ·   AI办公搭子  /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73B45"/>
                </a:solidFill>
                <a:latin typeface="Aptos"/>
              </a:defRPr>
            </a:pPr>
            <a:r>
              <a:t>销售额 · 月度趋势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645920"/>
          <a:ext cx="1060704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85800" y="64190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37A80"/>
                </a:solidFill>
              </a:defRPr>
            </a:pPr>
            <a:r>
              <a:t>来源：合成销售数据.xlsx / 销售明细 · 60 行   ·   AI办公搭子  /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73B45"/>
                </a:solidFill>
                <a:latin typeface="Aptos"/>
              </a:defRPr>
            </a:pPr>
            <a:r>
              <a:t>销售额 · 按区域汇总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645920"/>
          <a:ext cx="1060704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85800" y="64190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37A80"/>
                </a:solidFill>
              </a:defRPr>
            </a:pPr>
            <a:r>
              <a:t>来源：合成销售数据.xlsx / 线下补充 · 2 行   ·   AI办公搭子  /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73B45"/>
                </a:solidFill>
                <a:latin typeface="Aptos"/>
              </a:defRPr>
            </a:pPr>
            <a:r>
              <a:t>销售额 · 月度趋势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645920"/>
          <a:ext cx="1060704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85800" y="64190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37A80"/>
                </a:solidFill>
              </a:defRPr>
            </a:pPr>
            <a:r>
              <a:t>来源：合成销售数据.xlsx / 线下补充 · 2 行   ·   AI办公搭子  / 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